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Red Hat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Calibri"/>
              </a:defRPr>
            </a:pPr>
            <a:r>
              <a:t>30-Day Scope —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RACI Matrices  •  Role Charters  •  Skills Matrix  •  EA Remit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Scaled Agile Framework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1.   Architecture RACI Matrix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2.   Role Definitions &amp; Interaction Mappings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3.   Key Differentiators Across Roles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4.   EA Function Remit (Services to Red Hat)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5.   Data Architecture Discipline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6.   Platform Architect Role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7.   Architecture Skills Matrix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8.   Needed Inputs for Enterprise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RACI Matrix — Strategy &amp; Governance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/ Deliverable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PdM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Define 1–3+ Year IT Strategy &amp; North Star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Capability Briefs &amp; Value Stream Maps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Align Architecture with OKRs &amp; Org Strategy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Define AI-Ready Architecture Principles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Quality, Governance &amp; Explainability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Set Enterprise Technology Radar &amp; Standards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 = Responsible    A = Accountable    C = Consulted    I = Informed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RACI Matrix — Solution Design &amp; Lifecycle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/ Deliverable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PdM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High-Level Technical Vision &amp;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Architectural Decision Records (ADR)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 / 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Conduct Proof of Concepts (POCs)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Solution Architecture Document (SAD)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Roadmap Prioritization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Implementation Handover Ceremony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Continuous Improvement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 = Responsible    A = Accountable    C = Consulted    I = Informed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Role 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94960" cy="5120640"/>
          </a:xfrm>
          <a:prstGeom prst="rect">
            <a:avLst/>
          </a:prstGeom>
          <a:noFill/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2200" b="1">
                <a:solidFill>
                  <a:srgbClr val="CC0000"/>
                </a:solidFill>
                <a:latin typeface="Calibri"/>
              </a:defRPr>
            </a:pPr>
            <a:r>
              <a:t>Enterprise &amp; Data Architect</a:t>
            </a:r>
          </a:p>
          <a:p>
            <a:pPr algn="l">
              <a:spcBef>
                <a:spcPts val="200"/>
              </a:spcBef>
              <a:spcAft>
                <a:spcPts val="12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"The Foundation Visionary"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Operates at Strategy Office level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Ensures technical roadmaps enable business outcomes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Output: Technology Radar, Data Architecture standards, target-state capability roadmaps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Advisory authority on Buy vs. Build &amp; vendor alignment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 Focus: Data quality &amp; explainability for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97280"/>
            <a:ext cx="5394960" cy="5120640"/>
          </a:xfrm>
          <a:prstGeom prst="rect">
            <a:avLst/>
          </a:prstGeom>
          <a:noFill/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Solution Architect</a:t>
            </a:r>
          </a:p>
          <a:p>
            <a:pPr algn="l">
              <a:spcBef>
                <a:spcPts val="200"/>
              </a:spcBef>
              <a:spcAft>
                <a:spcPts val="12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"The Technical Visionary"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Operates at Portfolio &amp; Project level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Bridges BA's "what/why" → technical "how"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Output: SADs, ADRs, successful POCs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Project-specific tech choices within EA/DA guardrails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Leads Implementation Handover Ceremony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Architect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18320" cy="5029200"/>
          </a:xfrm>
          <a:prstGeom prst="rect">
            <a:avLst/>
          </a:prstGeom>
          <a:noFill/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371600"/>
            <a:ext cx="8686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2400" b="1">
                <a:solidFill>
                  <a:srgbClr val="16A34A"/>
                </a:solidFill>
                <a:latin typeface="Calibri"/>
              </a:defRPr>
            </a:pPr>
            <a:r>
              <a:t>Data Architect (DA)</a:t>
            </a:r>
          </a:p>
          <a:p>
            <a:pPr algn="l">
              <a:spcBef>
                <a:spcPts val="200"/>
              </a:spcBef>
              <a:spcAft>
                <a:spcPts val="14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"The Information Steward"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Strategic Scope: Enterprise &amp; portfolio levels — defines how data is modeled, integrated, governed, and made usable across business capabilities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Primary Output: Conceptual &amp; logical data models, data standards, integration patterns, target-state data flows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Decision Rights: Advisory authority on data design, master data approach, integration patterns &amp; governance requirements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AI Focus: Trusted data foundation for AI — data quality, lineage, interoperability, and fitness for AI-driven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Workflow Interlocks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280160"/>
            <a:ext cx="10515600" cy="11887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1">
                <a:solidFill>
                  <a:srgbClr val="CC0000"/>
                </a:solidFill>
                <a:latin typeface="Calibri"/>
              </a:defRPr>
            </a:pPr>
            <a:r>
              <a:t>Triggering Engagement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When Corporate Strategy incubates a business outcome, they notify both EA and Business Architects to determine whether the impact rises to EA or SA engagement.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9728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926080"/>
            <a:ext cx="10515600" cy="11887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1">
                <a:solidFill>
                  <a:srgbClr val="CC0000"/>
                </a:solidFill>
                <a:latin typeface="Calibri"/>
              </a:defRPr>
            </a:pPr>
            <a:r>
              <a:t>Cadence Alignment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All architecture teams operate on a 10-week increment cadence to ensure synchronization with PI Planning.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9728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4572000"/>
            <a:ext cx="10515600" cy="11887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700" b="1">
                <a:solidFill>
                  <a:srgbClr val="CC0000"/>
                </a:solidFill>
                <a:latin typeface="Calibri"/>
              </a:defRPr>
            </a:pPr>
            <a:r>
              <a:t>Strategic Integration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EA is being moved from a "downstream service" to an upstream partner, gaining a "seat at the table" during the investment lifecycle to prevent misaligned investments.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Differentiators (1 of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46020"/>
                <a:gridCol w="2446020"/>
                <a:gridCol w="2446020"/>
                <a:gridCol w="2446020"/>
              </a:tblGrid>
              <a:tr h="1005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Entire org &amp; portfolio;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 guardrails &amp; North Star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Specific solution/project;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end-to-end technical 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 data domains;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cross-platform data ecosystem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capabilities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&amp; value streams (CBP)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Time Horizon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1–3+ years (strategic)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3–12 months (tactical)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1–3 years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(strategic to transitional)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1–3+ years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(strategic to translational)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North Star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AI-ready architecture;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reduce sprawl &amp; enable reuse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Feasible solution design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meeting NFR targets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Trusted, governed,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explainable data at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Coherent capability map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realizing OKRs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Success Metric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Portfolio ROI, reduced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redundancy, strategic alignment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Delivery success, system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performance, technical fit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quality, consistency,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reuse, trusted 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 realization,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value stream performance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Differentiators (2 of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46020"/>
                <a:gridCol w="2446020"/>
                <a:gridCol w="2446020"/>
                <a:gridCol w="2446020"/>
              </a:tblGrid>
              <a:tr h="1005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 Focus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High: wrong platforms,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misaligned bets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Medium: wrong patterns/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tools, delivery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High: inconsistent entities,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poor lineage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Med-high: misaligned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capabilities, CBP gaps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Typical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Meetings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Strategy reviews, portfolio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councils, ARB, radar sessions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 Planning, design reviews,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spike/POC reviews, handover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Governance councils, domain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reviews, AI/data forums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 workshops, VSM,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 councils, OKR sessions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 Radar, EA roadmaps,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AI-ready principles, ref archs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SADs, ADRs, POC results,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runway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models, canonical entities,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standards,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 briefs, VSMs,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RACIs, BDRs, CBP 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Anchor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Strategy Office, LPM,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Platform/Domain architects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Bridges BA → technical;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works with Product, 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Interlocks EA, SA, BA,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governance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Engages Strategy &amp; EA;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shapes CBP &amp; value streams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EA Remit: Strategic Partnership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Strategy Office Representation — Formal seat at the Strategy Office ensuring technical roadmaps enable business outcomes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Investment Vetting — Technology and portfolio investments vetted against business goals before capital commitment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Decision Rights Management — Advisory authority on "Buy vs. Build" and vendor roadmap alignment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AI Policy &amp; Ethics — Governing AI policy, security controls, and ethical frameworks for frictionless AI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EA Remit: Standards &amp; Foundation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Data Architecture Discipline — Standalone service for data standards, quality, stewardship, and governance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AI-Ready Architecture Principles — Explainability and interoperability for scalable AI &amp; agentic workflows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Technology Radar Management — Red Hat Technical Radar by function/value stream to guide technology selection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Reusable Patterns — Reference architectures for common GTM scenarios (e.g., consumption pricing, AI-enabled selling)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EA Remit: Capability &amp; Roadmap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Proactive Capability Design — Shifting from reactive project delivery to proactive design anticipating future needs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Strategic Roadmapping — Enterprise-level roadmaps synthesizing solution roadmaps &amp; identifying non-obvious dependencies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Target-State Architecture — "North Star" vision for RH's technology landscape over a 3–5 year horizon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Interoperability Oversight — Seamless integration and data flow between disparate systems and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EA Remit: Portfolio &amp; Operational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Architecture Review Board (ARB) — Formal approval process for architectural standards &amp; cross-portfolio alignment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Portfolio Impact Assessment — Architecture impact assessments for new requests to determine validity &amp; fit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Vendor Roadmap Evaluation — Vendor capability roadmaps analyzed against internal gaps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Continuous Improvement Framework — Maintenance, monitoring, and feedback loops for sustained excellence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Architecture: What It Is vs. What It Isn’t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 NOT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Primary Goal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Ensuring data quality, governance &amp;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explainability for scalable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Enforcing rigid barriers that</a:t>
                      </a:r>
                    </a:p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stifle AI experimentation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Managing data standards,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stewardship &amp; data products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General "Enterprise Architecture"</a:t>
                      </a:r>
                    </a:p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or downstream delivery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Proactively defining data architecture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principles &amp; AI-ready standards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A reactive "firefighter" called</a:t>
                      </a:r>
                    </a:p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in at the last minute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 documentation, Data Product</a:t>
                      </a:r>
                    </a:p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Epics &amp; BDRs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A mere inventory of systems</a:t>
                      </a:r>
                    </a:p>
                    <a:p>
                      <a:pPr>
                        <a:defRPr sz="1300">
                          <a:solidFill>
                            <a:srgbClr val="993333"/>
                          </a:solidFill>
                          <a:latin typeface="Calibri"/>
                        </a:defRPr>
                      </a:pPr>
                      <a:r>
                        <a:t>or an implementation roadmap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&amp; AI Architect: Role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16A34A"/>
                </a:solidFill>
                <a:latin typeface="Calibri"/>
              </a:defRPr>
            </a:pPr>
            <a:r>
              <a:t>Role Definition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Purpose: Create high-level technical vision &amp; data architecture achieving business goals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Engagement: Triggered by BA requests → creates Epics in Jira with label "Data and AI Architecture"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Interlocks: SAs, Product Owners, TOC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16A34A"/>
                </a:solidFill>
                <a:latin typeface="Calibri"/>
              </a:defRPr>
            </a:pPr>
            <a:r>
              <a:t>Required Skills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Domain Expertise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Data Governance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Technical Proficiency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Strategic Alignment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 Specialization (Agentic AI, 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16A34A"/>
                </a:solidFill>
                <a:latin typeface="Calibri"/>
              </a:defRPr>
            </a:pPr>
            <a:r>
              <a:t>Core Responsibilities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Standardization — Enterprise data standards for consistency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 Enablement — Platform-specific AI plans; AI embedded into workflows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Impact Assessment — CDE &amp; EDS considerations for data products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Stewardship &amp; Quality — Data governance &amp; explainability for trusted AI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Lifecycle Mgmt — Tech evaluation &amp; decisions for data solutions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Architect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noFill/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8B5CF6"/>
                </a:solidFill>
                <a:latin typeface="Calibri"/>
              </a:defRPr>
            </a:pPr>
            <a:r>
              <a:t>Platform Architect (Agile / DevOps context)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Operates at a platform or shared-services level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Designs &amp; evolves technical platforms (cloud, K8s, CI/CD, shared APIs, data platforms)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Focuses on scalability, reliability, security, multi-tenancy, cost optimization, developer experience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Aligns platform capabilities with EA guardrails and solution/product team needs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Does not own enterprise-wide business-technology strategy or full end-to-end solutions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6984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3962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 Architect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Primary 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Shared platform / infrastructure / tooling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Time Horizon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Medium–long term (platform evolution &amp; lifecycle)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 Outputs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Platform blueprints, SLOs, platform APIs, cloud/infra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Partners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SRE/DevOps, infra teams, EAs, SAs,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 Anchor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 of platform / system architecture (not a named SAFe role)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Skills Comparison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011680"/>
                <a:gridCol w="2011680"/>
                <a:gridCol w="2011680"/>
              </a:tblGrid>
              <a:tr h="43226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 Category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Strategic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Technical Depth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Acumen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Governance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 Frameworks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AI/ML Knowledge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Agile/SAFe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Stakeholder Mgmt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Integration Design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Expert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Expert = Define standards &amp; mentor  |  Advanced = Independently execute  |  Intermediate = Contribute with guidance  |  Basic = Foundational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Skills Development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Enterprise Architects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AI governance &amp; explainability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Portfolio financial modeling &amp; ROI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Multi-cloud architecture patterns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Change leadership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5156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Solution Architects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AI/ML implementation patterns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Cloud-native &amp; serverless expertise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SAFe architecture runway &amp; CD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API strategy &amp; platform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51560"/>
            <a:ext cx="26517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Architects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AI/ML pipelines &amp; feature stores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Data mesh &amp; data product mgmt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Real-time streaming &amp; EDA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Data observability &amp; DataOps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051560"/>
            <a:ext cx="26517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Business Architects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6459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Value stream mapping &amp; outcomes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Tech literacy (AI, cloud, platforms)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OKR frameworks &amp; CBP roadmapping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Advanced facilitation techniques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Cross-Role Collaboration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Required for All Architecture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RACI framework &amp; role interaction mapping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Scaled Agile Framework (SAFe) &amp; PI Planning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JIRA: epic/story creation &amp; linking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Visual communication (Visio, Miro, Lucidchart)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Architecture documentation standards &amp; shared taxonomy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Stakeholder mapping &amp; influence strategy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thinking &amp; collaborative problem-solving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Needed Inputs: From Corporate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6629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Vision, Mission &amp; Strategic Themes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Clear written statements of vision, mission, strategic pillars,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multi-year goals traceable to capabilities &amp; roadmaps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Corporate &amp; Portfolio OKRs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Top-level and portfolio-level OKRs for alignment of tech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roadmaps, guardrails, and enablers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Strategic Initiatives &amp; Bets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Approved/emerging initiatives including target segments,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value propositions, and expected outcomes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Operating Model &amp; Value Streams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Current and target operating model so EA can map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technology to where value flows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Investment &amp; Funding Guardrails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Constraints, risk appetite, "must win" areas to shape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architectural runway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Risk, Compliance &amp; Policy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 appetite, regulatory hot spots, security &amp; AI ethics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stances for EA principles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 &amp; Competitive 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Trends and disruption themes informing the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technology radar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Needed Inputs: From Portfolio Leadership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CC000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Portfolio Backlog &amp; Roadmap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Prioritized portfolio backlog and 1–3 increment roadmap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 EA can time enablers &amp; platform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Demand Funnel &amp; Intake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Visibility into new requests, steering decisions, and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to decide EA engagement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Cases &amp; Constraints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Benefits, cost, timeline, dependencies for architecture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impact assessments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Solution &amp; Platform Landscape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 platforms, solutions in flight, tech debt hotspots,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known constraints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Risks, Issues &amp; Dependencies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Cross-program dependencies and capacity constraints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 architectural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 Objectives &amp; Outcomes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Planned vs. actual results to refine EA roadmaps and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adjust guardrails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Red Hat Architecture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